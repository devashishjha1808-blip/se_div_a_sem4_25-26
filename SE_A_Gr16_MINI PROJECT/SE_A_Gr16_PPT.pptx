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0083800" cy="7562850"/>
  <p:notesSz cx="100838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483636"/>
            <a:ext cx="494030" cy="3075940"/>
          </a:xfrm>
          <a:custGeom>
            <a:avLst/>
            <a:gdLst/>
            <a:ahLst/>
            <a:cxnLst/>
            <a:rect l="l" t="t" r="r" b="b"/>
            <a:pathLst>
              <a:path w="494030" h="3075940">
                <a:moveTo>
                  <a:pt x="0" y="0"/>
                </a:moveTo>
                <a:lnTo>
                  <a:pt x="0" y="3075403"/>
                </a:lnTo>
                <a:lnTo>
                  <a:pt x="493669" y="3075403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5657276" y="0"/>
            <a:ext cx="4424045" cy="7559675"/>
          </a:xfrm>
          <a:custGeom>
            <a:avLst/>
            <a:gdLst/>
            <a:ahLst/>
            <a:cxnLst/>
            <a:rect l="l" t="t" r="r" b="b"/>
            <a:pathLst>
              <a:path w="4424045" h="7559675">
                <a:moveTo>
                  <a:pt x="0" y="7559040"/>
                </a:moveTo>
                <a:lnTo>
                  <a:pt x="4423983" y="4608029"/>
                </a:lnTo>
              </a:path>
              <a:path w="4424045" h="7559675">
                <a:moveTo>
                  <a:pt x="2107249" y="0"/>
                </a:moveTo>
                <a:lnTo>
                  <a:pt x="3450274" y="7559673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7598018" y="0"/>
            <a:ext cx="2483485" cy="7559040"/>
          </a:xfrm>
          <a:custGeom>
            <a:avLst/>
            <a:gdLst/>
            <a:ahLst/>
            <a:cxnLst/>
            <a:rect l="l" t="t" r="r" b="b"/>
            <a:pathLst>
              <a:path w="2483484" h="7559040">
                <a:moveTo>
                  <a:pt x="2230510" y="0"/>
                </a:moveTo>
                <a:lnTo>
                  <a:pt x="0" y="7559040"/>
                </a:lnTo>
                <a:lnTo>
                  <a:pt x="2483240" y="7559040"/>
                </a:lnTo>
                <a:lnTo>
                  <a:pt x="2483240" y="8964"/>
                </a:lnTo>
                <a:lnTo>
                  <a:pt x="2230510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7943993" y="0"/>
            <a:ext cx="2137410" cy="7559040"/>
          </a:xfrm>
          <a:custGeom>
            <a:avLst/>
            <a:gdLst/>
            <a:ahLst/>
            <a:cxnLst/>
            <a:rect l="l" t="t" r="r" b="b"/>
            <a:pathLst>
              <a:path w="2137409" h="7559040">
                <a:moveTo>
                  <a:pt x="2137265" y="0"/>
                </a:moveTo>
                <a:lnTo>
                  <a:pt x="0" y="0"/>
                </a:lnTo>
                <a:lnTo>
                  <a:pt x="1323719" y="7559040"/>
                </a:lnTo>
                <a:lnTo>
                  <a:pt x="2137265" y="7559040"/>
                </a:lnTo>
                <a:lnTo>
                  <a:pt x="2137265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7318916" y="4321324"/>
            <a:ext cx="2762885" cy="3237865"/>
          </a:xfrm>
          <a:custGeom>
            <a:avLst/>
            <a:gdLst/>
            <a:ahLst/>
            <a:cxnLst/>
            <a:rect l="l" t="t" r="r" b="b"/>
            <a:pathLst>
              <a:path w="2762884" h="3237865">
                <a:moveTo>
                  <a:pt x="2762343" y="0"/>
                </a:moveTo>
                <a:lnTo>
                  <a:pt x="0" y="3237715"/>
                </a:lnTo>
                <a:lnTo>
                  <a:pt x="2762343" y="3237715"/>
                </a:lnTo>
                <a:lnTo>
                  <a:pt x="2762343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7730525" y="0"/>
            <a:ext cx="2350770" cy="7559040"/>
          </a:xfrm>
          <a:custGeom>
            <a:avLst/>
            <a:gdLst/>
            <a:ahLst/>
            <a:cxnLst/>
            <a:rect l="l" t="t" r="r" b="b"/>
            <a:pathLst>
              <a:path w="2350770" h="7559040">
                <a:moveTo>
                  <a:pt x="2350734" y="0"/>
                </a:moveTo>
                <a:lnTo>
                  <a:pt x="0" y="0"/>
                </a:lnTo>
                <a:lnTo>
                  <a:pt x="2043984" y="7559040"/>
                </a:lnTo>
                <a:lnTo>
                  <a:pt x="2065639" y="7559040"/>
                </a:lnTo>
                <a:lnTo>
                  <a:pt x="2350734" y="7550605"/>
                </a:lnTo>
                <a:lnTo>
                  <a:pt x="2350734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9145713" y="0"/>
            <a:ext cx="935990" cy="7559040"/>
          </a:xfrm>
          <a:custGeom>
            <a:avLst/>
            <a:gdLst/>
            <a:ahLst/>
            <a:cxnLst/>
            <a:rect l="l" t="t" r="r" b="b"/>
            <a:pathLst>
              <a:path w="935990" h="7559040">
                <a:moveTo>
                  <a:pt x="935546" y="0"/>
                </a:moveTo>
                <a:lnTo>
                  <a:pt x="744616" y="0"/>
                </a:lnTo>
                <a:lnTo>
                  <a:pt x="0" y="7559040"/>
                </a:lnTo>
                <a:lnTo>
                  <a:pt x="935546" y="7559040"/>
                </a:lnTo>
                <a:lnTo>
                  <a:pt x="935546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8924703" y="0"/>
            <a:ext cx="1156970" cy="7559040"/>
          </a:xfrm>
          <a:custGeom>
            <a:avLst/>
            <a:gdLst/>
            <a:ahLst/>
            <a:cxnLst/>
            <a:rect l="l" t="t" r="r" b="b"/>
            <a:pathLst>
              <a:path w="1156970" h="7559040">
                <a:moveTo>
                  <a:pt x="1156556" y="0"/>
                </a:moveTo>
                <a:lnTo>
                  <a:pt x="0" y="0"/>
                </a:lnTo>
                <a:lnTo>
                  <a:pt x="1033533" y="7559040"/>
                </a:lnTo>
                <a:lnTo>
                  <a:pt x="1156556" y="7559040"/>
                </a:lnTo>
                <a:lnTo>
                  <a:pt x="1156556" y="0"/>
                </a:lnTo>
                <a:close/>
              </a:path>
            </a:pathLst>
          </a:custGeom>
          <a:solidFill>
            <a:srgbClr val="226192">
              <a:alpha val="819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8895177" y="5420204"/>
            <a:ext cx="1186180" cy="2139315"/>
          </a:xfrm>
          <a:custGeom>
            <a:avLst/>
            <a:gdLst/>
            <a:ahLst/>
            <a:cxnLst/>
            <a:rect l="l" t="t" r="r" b="b"/>
            <a:pathLst>
              <a:path w="1186179" h="2139315">
                <a:moveTo>
                  <a:pt x="1186082" y="0"/>
                </a:moveTo>
                <a:lnTo>
                  <a:pt x="0" y="2138835"/>
                </a:lnTo>
                <a:lnTo>
                  <a:pt x="136021" y="2138835"/>
                </a:lnTo>
                <a:lnTo>
                  <a:pt x="1186082" y="2133953"/>
                </a:lnTo>
                <a:lnTo>
                  <a:pt x="1186082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bg 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551" y="661209"/>
            <a:ext cx="2491123" cy="35634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79475" y="505459"/>
            <a:ext cx="250952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5196"/>
            <a:ext cx="705866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4190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93157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483636"/>
            <a:ext cx="494030" cy="3075940"/>
          </a:xfrm>
          <a:custGeom>
            <a:avLst/>
            <a:gdLst/>
            <a:ahLst/>
            <a:cxnLst/>
            <a:rect l="l" t="t" r="r" b="b"/>
            <a:pathLst>
              <a:path w="494030" h="3075940">
                <a:moveTo>
                  <a:pt x="0" y="0"/>
                </a:moveTo>
                <a:lnTo>
                  <a:pt x="0" y="3075403"/>
                </a:lnTo>
                <a:lnTo>
                  <a:pt x="493669" y="3075403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5657276" y="0"/>
            <a:ext cx="4424045" cy="7559675"/>
          </a:xfrm>
          <a:custGeom>
            <a:avLst/>
            <a:gdLst/>
            <a:ahLst/>
            <a:cxnLst/>
            <a:rect l="l" t="t" r="r" b="b"/>
            <a:pathLst>
              <a:path w="4424045" h="7559675">
                <a:moveTo>
                  <a:pt x="0" y="7559040"/>
                </a:moveTo>
                <a:lnTo>
                  <a:pt x="4423983" y="4608029"/>
                </a:lnTo>
              </a:path>
              <a:path w="4424045" h="7559675">
                <a:moveTo>
                  <a:pt x="2107249" y="0"/>
                </a:moveTo>
                <a:lnTo>
                  <a:pt x="3450274" y="7559673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7598018" y="0"/>
            <a:ext cx="2483485" cy="7559040"/>
          </a:xfrm>
          <a:custGeom>
            <a:avLst/>
            <a:gdLst/>
            <a:ahLst/>
            <a:cxnLst/>
            <a:rect l="l" t="t" r="r" b="b"/>
            <a:pathLst>
              <a:path w="2483484" h="7559040">
                <a:moveTo>
                  <a:pt x="2230510" y="0"/>
                </a:moveTo>
                <a:lnTo>
                  <a:pt x="0" y="7559040"/>
                </a:lnTo>
                <a:lnTo>
                  <a:pt x="2483240" y="7559040"/>
                </a:lnTo>
                <a:lnTo>
                  <a:pt x="2483240" y="8964"/>
                </a:lnTo>
                <a:lnTo>
                  <a:pt x="2230510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7943993" y="0"/>
            <a:ext cx="2137410" cy="7559040"/>
          </a:xfrm>
          <a:custGeom>
            <a:avLst/>
            <a:gdLst/>
            <a:ahLst/>
            <a:cxnLst/>
            <a:rect l="l" t="t" r="r" b="b"/>
            <a:pathLst>
              <a:path w="2137409" h="7559040">
                <a:moveTo>
                  <a:pt x="2137265" y="0"/>
                </a:moveTo>
                <a:lnTo>
                  <a:pt x="0" y="0"/>
                </a:lnTo>
                <a:lnTo>
                  <a:pt x="1323719" y="7559040"/>
                </a:lnTo>
                <a:lnTo>
                  <a:pt x="2137265" y="7559040"/>
                </a:lnTo>
                <a:lnTo>
                  <a:pt x="2137265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7318916" y="4321324"/>
            <a:ext cx="2762885" cy="3237865"/>
          </a:xfrm>
          <a:custGeom>
            <a:avLst/>
            <a:gdLst/>
            <a:ahLst/>
            <a:cxnLst/>
            <a:rect l="l" t="t" r="r" b="b"/>
            <a:pathLst>
              <a:path w="2762884" h="3237865">
                <a:moveTo>
                  <a:pt x="2762343" y="0"/>
                </a:moveTo>
                <a:lnTo>
                  <a:pt x="0" y="3237715"/>
                </a:lnTo>
                <a:lnTo>
                  <a:pt x="2762343" y="3237715"/>
                </a:lnTo>
                <a:lnTo>
                  <a:pt x="2762343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7730525" y="0"/>
            <a:ext cx="2350770" cy="7559040"/>
          </a:xfrm>
          <a:custGeom>
            <a:avLst/>
            <a:gdLst/>
            <a:ahLst/>
            <a:cxnLst/>
            <a:rect l="l" t="t" r="r" b="b"/>
            <a:pathLst>
              <a:path w="2350770" h="7559040">
                <a:moveTo>
                  <a:pt x="2350734" y="0"/>
                </a:moveTo>
                <a:lnTo>
                  <a:pt x="0" y="0"/>
                </a:lnTo>
                <a:lnTo>
                  <a:pt x="2043984" y="7559040"/>
                </a:lnTo>
                <a:lnTo>
                  <a:pt x="2065639" y="7559040"/>
                </a:lnTo>
                <a:lnTo>
                  <a:pt x="2350734" y="7550605"/>
                </a:lnTo>
                <a:lnTo>
                  <a:pt x="2350734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9145713" y="0"/>
            <a:ext cx="935990" cy="7559040"/>
          </a:xfrm>
          <a:custGeom>
            <a:avLst/>
            <a:gdLst/>
            <a:ahLst/>
            <a:cxnLst/>
            <a:rect l="l" t="t" r="r" b="b"/>
            <a:pathLst>
              <a:path w="935990" h="7559040">
                <a:moveTo>
                  <a:pt x="935546" y="0"/>
                </a:moveTo>
                <a:lnTo>
                  <a:pt x="744616" y="0"/>
                </a:lnTo>
                <a:lnTo>
                  <a:pt x="0" y="7559040"/>
                </a:lnTo>
                <a:lnTo>
                  <a:pt x="935546" y="7559040"/>
                </a:lnTo>
                <a:lnTo>
                  <a:pt x="935546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8924703" y="0"/>
            <a:ext cx="1156970" cy="7559040"/>
          </a:xfrm>
          <a:custGeom>
            <a:avLst/>
            <a:gdLst/>
            <a:ahLst/>
            <a:cxnLst/>
            <a:rect l="l" t="t" r="r" b="b"/>
            <a:pathLst>
              <a:path w="1156970" h="7559040">
                <a:moveTo>
                  <a:pt x="1156556" y="0"/>
                </a:moveTo>
                <a:lnTo>
                  <a:pt x="0" y="0"/>
                </a:lnTo>
                <a:lnTo>
                  <a:pt x="1033533" y="7559040"/>
                </a:lnTo>
                <a:lnTo>
                  <a:pt x="1156556" y="7559040"/>
                </a:lnTo>
                <a:lnTo>
                  <a:pt x="1156556" y="0"/>
                </a:lnTo>
                <a:close/>
              </a:path>
            </a:pathLst>
          </a:custGeom>
          <a:solidFill>
            <a:srgbClr val="226192">
              <a:alpha val="819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8895177" y="5420204"/>
            <a:ext cx="1186180" cy="2139315"/>
          </a:xfrm>
          <a:custGeom>
            <a:avLst/>
            <a:gdLst/>
            <a:ahLst/>
            <a:cxnLst/>
            <a:rect l="l" t="t" r="r" b="b"/>
            <a:pathLst>
              <a:path w="1186179" h="2139315">
                <a:moveTo>
                  <a:pt x="1186082" y="0"/>
                </a:moveTo>
                <a:lnTo>
                  <a:pt x="0" y="2138835"/>
                </a:lnTo>
                <a:lnTo>
                  <a:pt x="136021" y="2138835"/>
                </a:lnTo>
                <a:lnTo>
                  <a:pt x="1186082" y="2133953"/>
                </a:lnTo>
                <a:lnTo>
                  <a:pt x="1186082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2700" y="142113"/>
            <a:ext cx="7611059" cy="11215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739" y="1433679"/>
            <a:ext cx="8592185" cy="3191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28492" y="7033450"/>
            <a:ext cx="3226816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4190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60336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jpg"/><Relationship Id="rId5" Type="http://schemas.openxmlformats.org/officeDocument/2006/relationships/image" Target="../media/image22.png"/><Relationship Id="rId6" Type="http://schemas.openxmlformats.org/officeDocument/2006/relationships/image" Target="../media/image23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Relationship Id="rId6" Type="http://schemas.openxmlformats.org/officeDocument/2006/relationships/image" Target="../media/image28.jpg"/><Relationship Id="rId7" Type="http://schemas.openxmlformats.org/officeDocument/2006/relationships/image" Target="../media/image29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hyperlink" Target="https://www.zoho.com/en-in/crm/" TargetMode="External"/><Relationship Id="rId5" Type="http://schemas.openxmlformats.org/officeDocument/2006/relationships/hyperlink" Target="https://www.salezshark.com/crm/web-based-crm-solutions" TargetMode="External"/><Relationship Id="rId6" Type="http://schemas.openxmlformats.org/officeDocument/2006/relationships/hyperlink" Target="https://www.catalystk.com/web-based-crm-software" TargetMode="Externa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715960"/>
            <a:ext cx="10081260" cy="100965"/>
            <a:chOff x="0" y="1715960"/>
            <a:chExt cx="10081260" cy="10096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715960"/>
              <a:ext cx="10081259" cy="100774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1743075"/>
              <a:ext cx="10080625" cy="0"/>
            </a:xfrm>
            <a:custGeom>
              <a:avLst/>
              <a:gdLst/>
              <a:ahLst/>
              <a:cxnLst/>
              <a:rect l="l" t="t" r="r" b="b"/>
              <a:pathLst>
                <a:path w="10080625" h="0">
                  <a:moveTo>
                    <a:pt x="0" y="0"/>
                  </a:moveTo>
                  <a:lnTo>
                    <a:pt x="10080625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3600" y="179451"/>
            <a:ext cx="7705725" cy="137159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8739" y="2687193"/>
            <a:ext cx="9786620" cy="4781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 b="1">
                <a:latin typeface="Times New Roman"/>
                <a:cs typeface="Times New Roman"/>
              </a:rPr>
              <a:t>Theme-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SDG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8: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Decent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Work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Economic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Growth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1460500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SDG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9: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Industry,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Innovation,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Infrastructure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1460500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SDG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12: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Responsible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Consumption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Production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2400" b="1">
                <a:latin typeface="Times New Roman"/>
                <a:cs typeface="Times New Roman"/>
              </a:rPr>
              <a:t>Category-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Software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2400" b="1">
                <a:latin typeface="Times New Roman"/>
                <a:cs typeface="Times New Roman"/>
              </a:rPr>
              <a:t>Group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No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-</a:t>
            </a:r>
            <a:r>
              <a:rPr dirty="0" sz="2400" spc="-25" b="1">
                <a:latin typeface="Times New Roman"/>
                <a:cs typeface="Times New Roman"/>
              </a:rPr>
              <a:t>16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2400" b="1">
                <a:latin typeface="Times New Roman"/>
                <a:cs typeface="Times New Roman"/>
              </a:rPr>
              <a:t>Group</a:t>
            </a:r>
            <a:r>
              <a:rPr dirty="0" sz="2400" spc="-114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Members-</a:t>
            </a:r>
            <a:r>
              <a:rPr dirty="0" sz="2200" b="1">
                <a:latin typeface="Times New Roman"/>
                <a:cs typeface="Times New Roman"/>
              </a:rPr>
              <a:t>Devashish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Jha,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Swayam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Kale,</a:t>
            </a:r>
            <a:r>
              <a:rPr dirty="0" sz="2200" spc="-1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Akshay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Hegde,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Nandan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gurav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0"/>
              </a:spcBef>
              <a:buFont typeface="Arial MT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2400" b="1">
                <a:latin typeface="Times New Roman"/>
                <a:cs typeface="Times New Roman"/>
              </a:rPr>
              <a:t>Guide-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Prof.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Sushmita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Madineni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00836" y="1847469"/>
            <a:ext cx="824484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Small</a:t>
            </a:r>
            <a:r>
              <a:rPr dirty="0" sz="2800" spc="-105"/>
              <a:t> </a:t>
            </a:r>
            <a:r>
              <a:rPr dirty="0" sz="2800"/>
              <a:t>Business</a:t>
            </a:r>
            <a:r>
              <a:rPr dirty="0" sz="2800" spc="-100"/>
              <a:t> </a:t>
            </a:r>
            <a:r>
              <a:rPr dirty="0" sz="2800"/>
              <a:t>Customer</a:t>
            </a:r>
            <a:r>
              <a:rPr dirty="0" sz="2800" spc="-140"/>
              <a:t> </a:t>
            </a:r>
            <a:r>
              <a:rPr dirty="0" sz="2800"/>
              <a:t>Management</a:t>
            </a:r>
            <a:r>
              <a:rPr dirty="0" sz="2800" spc="-90"/>
              <a:t> </a:t>
            </a:r>
            <a:r>
              <a:rPr dirty="0" sz="2800"/>
              <a:t>System</a:t>
            </a:r>
            <a:r>
              <a:rPr dirty="0" sz="2800" spc="-105"/>
              <a:t> </a:t>
            </a:r>
            <a:r>
              <a:rPr dirty="0" sz="2800" spc="-10"/>
              <a:t>(CMS)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2346" y="217170"/>
            <a:ext cx="14979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pc="-10"/>
              <a:t>Outline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0557" y="923289"/>
            <a:ext cx="4518660" cy="551307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335280" indent="-322580">
              <a:lnSpc>
                <a:spcPct val="100000"/>
              </a:lnSpc>
              <a:spcBef>
                <a:spcPts val="1540"/>
              </a:spcBef>
              <a:buFont typeface="Wingdings"/>
              <a:buChar char=""/>
              <a:tabLst>
                <a:tab pos="335280" algn="l"/>
              </a:tabLst>
            </a:pPr>
            <a:r>
              <a:rPr dirty="0" sz="2400" spc="-10">
                <a:latin typeface="Times New Roman"/>
                <a:cs typeface="Times New Roman"/>
              </a:rPr>
              <a:t>Introduction</a:t>
            </a:r>
            <a:endParaRPr sz="2400">
              <a:latin typeface="Times New Roman"/>
              <a:cs typeface="Times New Roman"/>
            </a:endParaRPr>
          </a:p>
          <a:p>
            <a:pPr marL="335280" indent="-322580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5280" algn="l"/>
              </a:tabLst>
            </a:pPr>
            <a:r>
              <a:rPr dirty="0" sz="2400">
                <a:latin typeface="Times New Roman"/>
                <a:cs typeface="Times New Roman"/>
              </a:rPr>
              <a:t>Literature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Survey</a:t>
            </a:r>
            <a:endParaRPr sz="2400">
              <a:latin typeface="Times New Roman"/>
              <a:cs typeface="Times New Roman"/>
            </a:endParaRPr>
          </a:p>
          <a:p>
            <a:pPr marL="335280" indent="-322580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5280" algn="l"/>
                <a:tab pos="2219325" algn="l"/>
              </a:tabLst>
            </a:pPr>
            <a:r>
              <a:rPr dirty="0" sz="2400">
                <a:latin typeface="Times New Roman"/>
                <a:cs typeface="Times New Roman"/>
              </a:rPr>
              <a:t>Limitations</a:t>
            </a:r>
            <a:r>
              <a:rPr dirty="0" sz="2400" spc="-9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of</a:t>
            </a:r>
            <a:r>
              <a:rPr dirty="0" sz="2400">
                <a:latin typeface="Times New Roman"/>
                <a:cs typeface="Times New Roman"/>
              </a:rPr>
              <a:t>	existing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systems</a:t>
            </a:r>
            <a:endParaRPr sz="2400">
              <a:latin typeface="Times New Roman"/>
              <a:cs typeface="Times New Roman"/>
            </a:endParaRPr>
          </a:p>
          <a:p>
            <a:pPr marL="335280" indent="-322580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5280" algn="l"/>
              </a:tabLst>
            </a:pPr>
            <a:r>
              <a:rPr dirty="0" sz="2400">
                <a:latin typeface="Times New Roman"/>
                <a:cs typeface="Times New Roman"/>
              </a:rPr>
              <a:t>Problem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statement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0">
                <a:latin typeface="Times New Roman"/>
                <a:cs typeface="Times New Roman"/>
              </a:rPr>
              <a:t> Objectives</a:t>
            </a:r>
            <a:endParaRPr sz="2400">
              <a:latin typeface="Times New Roman"/>
              <a:cs typeface="Times New Roman"/>
            </a:endParaRPr>
          </a:p>
          <a:p>
            <a:pPr marL="335280" indent="-322580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5280" algn="l"/>
              </a:tabLst>
            </a:pPr>
            <a:r>
              <a:rPr dirty="0" sz="2400">
                <a:latin typeface="Times New Roman"/>
                <a:cs typeface="Times New Roman"/>
              </a:rPr>
              <a:t>Proposed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Methodology</a:t>
            </a:r>
            <a:endParaRPr sz="2400">
              <a:latin typeface="Times New Roman"/>
              <a:cs typeface="Times New Roman"/>
            </a:endParaRPr>
          </a:p>
          <a:p>
            <a:pPr marL="335280" indent="-322580">
              <a:lnSpc>
                <a:spcPct val="100000"/>
              </a:lnSpc>
              <a:spcBef>
                <a:spcPts val="1445"/>
              </a:spcBef>
              <a:buFont typeface="Wingdings"/>
              <a:buChar char=""/>
              <a:tabLst>
                <a:tab pos="335280" algn="l"/>
              </a:tabLst>
            </a:pPr>
            <a:r>
              <a:rPr dirty="0" sz="2400">
                <a:latin typeface="Times New Roman"/>
                <a:cs typeface="Times New Roman"/>
              </a:rPr>
              <a:t>Experimental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Setup</a:t>
            </a:r>
            <a:endParaRPr sz="2400">
              <a:latin typeface="Times New Roman"/>
              <a:cs typeface="Times New Roman"/>
            </a:endParaRPr>
          </a:p>
          <a:p>
            <a:pPr marL="335280" indent="-322580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5280" algn="l"/>
              </a:tabLst>
            </a:pPr>
            <a:r>
              <a:rPr dirty="0" sz="2400" spc="-10">
                <a:latin typeface="Times New Roman"/>
                <a:cs typeface="Times New Roman"/>
              </a:rPr>
              <a:t>Implementation</a:t>
            </a:r>
            <a:endParaRPr sz="2400">
              <a:latin typeface="Times New Roman"/>
              <a:cs typeface="Times New Roman"/>
            </a:endParaRPr>
          </a:p>
          <a:p>
            <a:pPr marL="335280" indent="-322580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5280" algn="l"/>
              </a:tabLst>
            </a:pPr>
            <a:r>
              <a:rPr dirty="0" sz="2400">
                <a:latin typeface="Times New Roman"/>
                <a:cs typeface="Times New Roman"/>
              </a:rPr>
              <a:t>Results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&amp;</a:t>
            </a:r>
            <a:r>
              <a:rPr dirty="0" sz="2400" spc="-1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Analysis</a:t>
            </a:r>
            <a:endParaRPr sz="2400">
              <a:latin typeface="Times New Roman"/>
              <a:cs typeface="Times New Roman"/>
            </a:endParaRPr>
          </a:p>
          <a:p>
            <a:pPr marL="335280" indent="-322580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5280" algn="l"/>
              </a:tabLst>
            </a:pPr>
            <a:r>
              <a:rPr dirty="0" sz="2400">
                <a:latin typeface="Times New Roman"/>
                <a:cs typeface="Times New Roman"/>
              </a:rPr>
              <a:t>Conclusion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 Future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work</a:t>
            </a:r>
            <a:endParaRPr sz="2400">
              <a:latin typeface="Times New Roman"/>
              <a:cs typeface="Times New Roman"/>
            </a:endParaRPr>
          </a:p>
          <a:p>
            <a:pPr marL="335280" indent="-322580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5280" algn="l"/>
              </a:tabLst>
            </a:pPr>
            <a:r>
              <a:rPr dirty="0" sz="2400" spc="-10">
                <a:latin typeface="Times New Roman"/>
                <a:cs typeface="Times New Roman"/>
              </a:rPr>
              <a:t>References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551" y="645965"/>
            <a:ext cx="2491123" cy="35177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9475" y="486283"/>
            <a:ext cx="250952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Introduction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3336" y="996696"/>
            <a:ext cx="2532126" cy="9372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8739" y="1123315"/>
            <a:ext cx="8108315" cy="46907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Small</a:t>
            </a:r>
            <a:r>
              <a:rPr dirty="0" u="sng" sz="2800" spc="-114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Business</a:t>
            </a:r>
            <a:r>
              <a:rPr dirty="0" u="sng" sz="2800" spc="-10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Customer</a:t>
            </a:r>
            <a:r>
              <a:rPr dirty="0" u="sng" sz="2800" spc="-15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Management</a:t>
            </a:r>
            <a:r>
              <a:rPr dirty="0" u="sng" sz="2800" spc="-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500">
                <a:latin typeface="Times New Roman"/>
                <a:cs typeface="Times New Roman"/>
              </a:rPr>
              <a:t>Helps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shop</a:t>
            </a:r>
            <a:r>
              <a:rPr dirty="0" sz="2500" spc="-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owners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to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manages</a:t>
            </a:r>
            <a:r>
              <a:rPr dirty="0" sz="2500" spc="-2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daily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customer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sales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data</a:t>
            </a:r>
            <a:endParaRPr sz="2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500" spc="-30">
                <a:latin typeface="Times New Roman"/>
                <a:cs typeface="Times New Roman"/>
              </a:rPr>
              <a:t>Works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as</a:t>
            </a:r>
            <a:r>
              <a:rPr dirty="0" sz="2500" spc="-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digital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notebook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for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small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business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owners</a:t>
            </a:r>
            <a:endParaRPr sz="2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500">
                <a:latin typeface="Times New Roman"/>
                <a:cs typeface="Times New Roman"/>
              </a:rPr>
              <a:t>Provide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safe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Digital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storage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for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customer</a:t>
            </a:r>
            <a:r>
              <a:rPr dirty="0" sz="2500" spc="-2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storage</a:t>
            </a:r>
            <a:endParaRPr sz="2500">
              <a:latin typeface="Times New Roman"/>
              <a:cs typeface="Times New Roman"/>
            </a:endParaRPr>
          </a:p>
          <a:p>
            <a:pPr marL="354965" indent="-342265">
              <a:lnSpc>
                <a:spcPts val="2995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500">
                <a:latin typeface="Times New Roman"/>
                <a:cs typeface="Times New Roman"/>
              </a:rPr>
              <a:t>Supports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small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retail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shops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electronic</a:t>
            </a:r>
            <a:r>
              <a:rPr dirty="0" sz="2500" spc="-2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stores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</a:pP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Current</a:t>
            </a:r>
            <a:r>
              <a:rPr dirty="0" u="sng" sz="2800" spc="-7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Challenges</a:t>
            </a:r>
            <a:r>
              <a:rPr dirty="0" u="sng" sz="2800" spc="-8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faced</a:t>
            </a:r>
            <a:r>
              <a:rPr dirty="0" u="sng" sz="2800" spc="-9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by</a:t>
            </a:r>
            <a:r>
              <a:rPr dirty="0" u="sng" sz="2800" spc="-8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small</a:t>
            </a:r>
            <a:r>
              <a:rPr dirty="0" u="sng" sz="2800" spc="-9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business</a:t>
            </a:r>
            <a:r>
              <a:rPr dirty="0" u="sng" sz="2800" spc="-9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owners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500">
                <a:latin typeface="Times New Roman"/>
                <a:cs typeface="Times New Roman"/>
              </a:rPr>
              <a:t>Data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loss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due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to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damaged</a:t>
            </a:r>
            <a:r>
              <a:rPr dirty="0" sz="2500" spc="-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notebooks</a:t>
            </a:r>
            <a:endParaRPr sz="2500">
              <a:latin typeface="Times New Roman"/>
              <a:cs typeface="Times New Roman"/>
            </a:endParaRPr>
          </a:p>
          <a:p>
            <a:pPr marL="329565" marR="3405504" indent="-317500">
              <a:lnSpc>
                <a:spcPct val="100000"/>
              </a:lnSpc>
              <a:spcBef>
                <a:spcPts val="5"/>
              </a:spcBef>
              <a:buChar char="•"/>
              <a:tabLst>
                <a:tab pos="329565" algn="l"/>
                <a:tab pos="354965" algn="l"/>
              </a:tabLst>
            </a:pPr>
            <a:r>
              <a:rPr dirty="0" sz="2500">
                <a:latin typeface="Arial MT"/>
                <a:cs typeface="Arial MT"/>
              </a:rPr>
              <a:t>	</a:t>
            </a:r>
            <a:r>
              <a:rPr dirty="0" sz="2500">
                <a:latin typeface="Times New Roman"/>
                <a:cs typeface="Times New Roman"/>
              </a:rPr>
              <a:t>Small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business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owners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waste</a:t>
            </a:r>
            <a:r>
              <a:rPr dirty="0" sz="2500" spc="-75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time </a:t>
            </a:r>
            <a:r>
              <a:rPr dirty="0" sz="2500">
                <a:latin typeface="Times New Roman"/>
                <a:cs typeface="Times New Roman"/>
              </a:rPr>
              <a:t>calculating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profit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manually</a:t>
            </a:r>
            <a:endParaRPr sz="2500">
              <a:latin typeface="Times New Roman"/>
              <a:cs typeface="Times New Roman"/>
            </a:endParaRPr>
          </a:p>
          <a:p>
            <a:pPr marL="354965" marR="4116070" indent="-342900">
              <a:lnSpc>
                <a:spcPct val="100000"/>
              </a:lnSpc>
              <a:buFont typeface="Arial MT"/>
              <a:buChar char="•"/>
              <a:tabLst>
                <a:tab pos="408305" algn="l"/>
              </a:tabLst>
            </a:pPr>
            <a:r>
              <a:rPr dirty="0" sz="2500">
                <a:latin typeface="Times New Roman"/>
                <a:cs typeface="Times New Roman"/>
              </a:rPr>
              <a:t>There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is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no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proper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system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Times New Roman"/>
                <a:cs typeface="Times New Roman"/>
              </a:rPr>
              <a:t>to </a:t>
            </a:r>
            <a:r>
              <a:rPr dirty="0" sz="2500" spc="-25">
                <a:latin typeface="Times New Roman"/>
                <a:cs typeface="Times New Roman"/>
              </a:rPr>
              <a:t>	</a:t>
            </a:r>
            <a:r>
              <a:rPr dirty="0" sz="2500">
                <a:latin typeface="Times New Roman"/>
                <a:cs typeface="Times New Roman"/>
              </a:rPr>
              <a:t>store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customer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data</a:t>
            </a:r>
            <a:endParaRPr sz="2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500">
                <a:latin typeface="Times New Roman"/>
                <a:cs typeface="Times New Roman"/>
              </a:rPr>
              <a:t>Hard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to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track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daily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profit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&amp;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sales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27650" y="3573462"/>
            <a:ext cx="3725799" cy="2870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Introduction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336" y="1016508"/>
            <a:ext cx="2532126" cy="937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91439" y="1207135"/>
            <a:ext cx="399351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3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Working</a:t>
            </a:r>
            <a:r>
              <a:rPr dirty="0" u="sng" sz="3200" spc="-8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3200" spc="-7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3200" spc="-6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266950"/>
            <a:ext cx="10080624" cy="4752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570" y="661209"/>
            <a:ext cx="3451225" cy="44771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9475" y="505459"/>
            <a:ext cx="346202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dirty="0" spc="-210"/>
              <a:t> </a:t>
            </a:r>
            <a:r>
              <a:rPr dirty="0" spc="-10"/>
              <a:t>survey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3336" y="1016508"/>
            <a:ext cx="3483102" cy="937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66166" y="1123197"/>
            <a:ext cx="7633334" cy="578866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u="sng" sz="2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Traditional</a:t>
            </a:r>
            <a:r>
              <a:rPr dirty="0" u="sng" sz="2800" spc="-8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solution</a:t>
            </a:r>
            <a:r>
              <a:rPr dirty="0" u="sng" sz="2800" spc="-7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2800" spc="-6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changes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5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700">
                <a:latin typeface="Times New Roman"/>
                <a:cs typeface="Times New Roman"/>
              </a:rPr>
              <a:t>Most</a:t>
            </a:r>
            <a:r>
              <a:rPr dirty="0" sz="2700" spc="-2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shop</a:t>
            </a:r>
            <a:r>
              <a:rPr dirty="0" sz="2700" spc="-3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owners</a:t>
            </a:r>
            <a:r>
              <a:rPr dirty="0" sz="2700" spc="-1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use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book</a:t>
            </a:r>
            <a:r>
              <a:rPr dirty="0" sz="2700" spc="-3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to</a:t>
            </a:r>
            <a:r>
              <a:rPr dirty="0" sz="2700" spc="-2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add</a:t>
            </a:r>
            <a:r>
              <a:rPr dirty="0" sz="2700" spc="-1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customer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 spc="-20">
                <a:latin typeface="Times New Roman"/>
                <a:cs typeface="Times New Roman"/>
              </a:rPr>
              <a:t>data</a:t>
            </a:r>
            <a:endParaRPr sz="27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700">
                <a:latin typeface="Times New Roman"/>
                <a:cs typeface="Times New Roman"/>
              </a:rPr>
              <a:t>High</a:t>
            </a:r>
            <a:r>
              <a:rPr dirty="0" sz="2700" spc="-3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risk</a:t>
            </a:r>
            <a:r>
              <a:rPr dirty="0" sz="2700" spc="-3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of</a:t>
            </a:r>
            <a:r>
              <a:rPr dirty="0" sz="2700" spc="-2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calculation</a:t>
            </a:r>
            <a:r>
              <a:rPr dirty="0" sz="2700" spc="-25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errors</a:t>
            </a:r>
            <a:endParaRPr sz="27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700">
                <a:latin typeface="Times New Roman"/>
                <a:cs typeface="Times New Roman"/>
              </a:rPr>
              <a:t>No</a:t>
            </a:r>
            <a:r>
              <a:rPr dirty="0" sz="2700" spc="-2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digital</a:t>
            </a:r>
            <a:r>
              <a:rPr dirty="0" sz="2700" spc="-5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backup</a:t>
            </a:r>
            <a:r>
              <a:rPr dirty="0" sz="2700" spc="-3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or</a:t>
            </a:r>
            <a:r>
              <a:rPr dirty="0" sz="2700" spc="-1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data</a:t>
            </a:r>
            <a:r>
              <a:rPr dirty="0" sz="2700" spc="-2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security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Gap</a:t>
            </a:r>
            <a:r>
              <a:rPr dirty="0" u="sng" sz="2800" spc="-7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identified</a:t>
            </a:r>
            <a:r>
              <a:rPr dirty="0" u="sng" sz="2800" spc="-6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2800" spc="-7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traditional</a:t>
            </a:r>
            <a:r>
              <a:rPr dirty="0" u="sng" sz="2800" spc="-8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500">
                <a:latin typeface="Times New Roman"/>
                <a:cs typeface="Times New Roman"/>
              </a:rPr>
              <a:t>Lack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of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Database</a:t>
            </a:r>
            <a:r>
              <a:rPr dirty="0" sz="2500" spc="-45" b="1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to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manage</a:t>
            </a:r>
            <a:r>
              <a:rPr dirty="0" sz="2500" spc="-1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the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customer</a:t>
            </a:r>
            <a:r>
              <a:rPr dirty="0" sz="2500" spc="-2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sales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data</a:t>
            </a:r>
            <a:endParaRPr sz="2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500">
                <a:latin typeface="Times New Roman"/>
                <a:cs typeface="Times New Roman"/>
              </a:rPr>
              <a:t>There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is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no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automated profit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sales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calculation</a:t>
            </a:r>
            <a:endParaRPr sz="2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500">
                <a:latin typeface="Times New Roman"/>
                <a:cs typeface="Times New Roman"/>
              </a:rPr>
              <a:t>There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is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no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structured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customer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tracking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system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u="sng" sz="2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Modern</a:t>
            </a:r>
            <a:r>
              <a:rPr dirty="0" u="sng" sz="2800" spc="-15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Approach</a:t>
            </a:r>
            <a:r>
              <a:rPr dirty="0" u="sng" sz="2800" spc="-1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2800" spc="-7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Our</a:t>
            </a:r>
            <a:r>
              <a:rPr dirty="0" u="sng" sz="2800" spc="-114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Proposed</a:t>
            </a:r>
            <a:r>
              <a:rPr dirty="0" u="sng" sz="2800" spc="-8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500" spc="-80">
                <a:latin typeface="Times New Roman"/>
                <a:cs typeface="Times New Roman"/>
              </a:rPr>
              <a:t>Web-</a:t>
            </a:r>
            <a:r>
              <a:rPr dirty="0" sz="2500">
                <a:latin typeface="Times New Roman"/>
                <a:cs typeface="Times New Roman"/>
              </a:rPr>
              <a:t>based</a:t>
            </a:r>
            <a:r>
              <a:rPr dirty="0" sz="2500" spc="1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digital</a:t>
            </a:r>
            <a:r>
              <a:rPr dirty="0" sz="2500" spc="-2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record </a:t>
            </a:r>
            <a:r>
              <a:rPr dirty="0" sz="2500" spc="-10">
                <a:latin typeface="Times New Roman"/>
                <a:cs typeface="Times New Roman"/>
              </a:rPr>
              <a:t>management</a:t>
            </a:r>
            <a:endParaRPr sz="2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500">
                <a:latin typeface="Times New Roman"/>
                <a:cs typeface="Times New Roman"/>
              </a:rPr>
              <a:t>Automated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dashboard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for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sales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&amp;</a:t>
            </a:r>
            <a:r>
              <a:rPr dirty="0" sz="2500" spc="-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profit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tracking</a:t>
            </a:r>
            <a:endParaRPr sz="2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500">
                <a:latin typeface="Times New Roman"/>
                <a:cs typeface="Times New Roman"/>
              </a:rPr>
              <a:t>Secure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login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with</a:t>
            </a:r>
            <a:r>
              <a:rPr dirty="0" sz="2500" spc="-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organized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data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storage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331" y="783129"/>
            <a:ext cx="6066361" cy="44771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8221" rIns="0" bIns="0" rtlCol="0" vert="horz">
            <a:spAutoFit/>
          </a:bodyPr>
          <a:lstStyle/>
          <a:p>
            <a:pPr marL="629920">
              <a:lnSpc>
                <a:spcPct val="100000"/>
              </a:lnSpc>
              <a:spcBef>
                <a:spcPts val="100"/>
              </a:spcBef>
            </a:pPr>
            <a:r>
              <a:rPr dirty="0"/>
              <a:t>Limitations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existing</a:t>
            </a:r>
            <a:r>
              <a:rPr dirty="0" spc="-20"/>
              <a:t> </a:t>
            </a:r>
            <a:r>
              <a:rPr dirty="0" spc="-10"/>
              <a:t>Systems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8076" y="1138428"/>
            <a:ext cx="6108954" cy="937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66166" y="1471257"/>
            <a:ext cx="8625840" cy="505015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Font typeface="Wingdings"/>
              <a:buChar char=""/>
              <a:tabLst>
                <a:tab pos="354965" algn="l"/>
              </a:tabLst>
            </a:pPr>
            <a:r>
              <a:rPr dirty="0" sz="2800" b="1">
                <a:latin typeface="Times New Roman"/>
                <a:cs typeface="Times New Roman"/>
              </a:rPr>
              <a:t>Data</a:t>
            </a:r>
            <a:r>
              <a:rPr dirty="0" sz="2800" spc="-2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can</a:t>
            </a:r>
            <a:r>
              <a:rPr dirty="0" sz="2800" spc="-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be</a:t>
            </a:r>
            <a:r>
              <a:rPr dirty="0" sz="2800" spc="-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easily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Times New Roman"/>
                <a:cs typeface="Times New Roman"/>
              </a:rPr>
              <a:t>lost</a:t>
            </a:r>
            <a:endParaRPr sz="2800">
              <a:latin typeface="Times New Roman"/>
              <a:cs typeface="Times New Roman"/>
            </a:endParaRPr>
          </a:p>
          <a:p>
            <a:pPr marL="12700" marR="6985">
              <a:lnSpc>
                <a:spcPct val="100000"/>
              </a:lnSpc>
              <a:spcBef>
                <a:spcPts val="615"/>
              </a:spcBef>
            </a:pPr>
            <a:r>
              <a:rPr dirty="0" sz="2500">
                <a:latin typeface="Times New Roman"/>
                <a:cs typeface="Times New Roman"/>
              </a:rPr>
              <a:t>Example:</a:t>
            </a:r>
            <a:r>
              <a:rPr dirty="0" sz="2500" spc="2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If</a:t>
            </a:r>
            <a:r>
              <a:rPr dirty="0" sz="2500" spc="229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the</a:t>
            </a:r>
            <a:r>
              <a:rPr dirty="0" sz="2500" spc="2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customer</a:t>
            </a:r>
            <a:r>
              <a:rPr dirty="0" sz="2500" spc="2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notebook</a:t>
            </a:r>
            <a:r>
              <a:rPr dirty="0" sz="2500" spc="2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is</a:t>
            </a:r>
            <a:r>
              <a:rPr dirty="0" sz="2500" spc="22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lost</a:t>
            </a:r>
            <a:r>
              <a:rPr dirty="0" sz="2500" spc="229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or</a:t>
            </a:r>
            <a:r>
              <a:rPr dirty="0" sz="2500" spc="22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damaged.</a:t>
            </a:r>
            <a:r>
              <a:rPr dirty="0" sz="2500" spc="229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Customer </a:t>
            </a:r>
            <a:r>
              <a:rPr dirty="0" sz="2500">
                <a:latin typeface="Times New Roman"/>
                <a:cs typeface="Times New Roman"/>
              </a:rPr>
              <a:t>data</a:t>
            </a:r>
            <a:r>
              <a:rPr dirty="0" sz="2500" spc="-1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is</a:t>
            </a:r>
            <a:r>
              <a:rPr dirty="0" sz="2500" spc="-20">
                <a:latin typeface="Times New Roman"/>
                <a:cs typeface="Times New Roman"/>
              </a:rPr>
              <a:t> gone</a:t>
            </a:r>
            <a:endParaRPr sz="2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60"/>
              </a:spcBef>
              <a:buFont typeface="Wingdings"/>
              <a:buChar char=""/>
              <a:tabLst>
                <a:tab pos="354965" algn="l"/>
              </a:tabLst>
            </a:pPr>
            <a:r>
              <a:rPr dirty="0" sz="2800" b="1">
                <a:latin typeface="Times New Roman"/>
                <a:cs typeface="Times New Roman"/>
              </a:rPr>
              <a:t>Customer</a:t>
            </a:r>
            <a:r>
              <a:rPr dirty="0" sz="2800" spc="-11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records</a:t>
            </a:r>
            <a:r>
              <a:rPr dirty="0" sz="2800" spc="-8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are</a:t>
            </a:r>
            <a:r>
              <a:rPr dirty="0" sz="2800" spc="-9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not</a:t>
            </a:r>
            <a:r>
              <a:rPr dirty="0" sz="2800" spc="-8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organized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610"/>
              </a:spcBef>
              <a:tabLst>
                <a:tab pos="1396365" algn="l"/>
                <a:tab pos="2550160" algn="l"/>
                <a:tab pos="2856230" algn="l"/>
                <a:tab pos="4115435" algn="l"/>
                <a:tab pos="5627370" algn="l"/>
                <a:tab pos="6923405" algn="l"/>
                <a:tab pos="7743190" algn="l"/>
                <a:tab pos="8047990" algn="l"/>
              </a:tabLst>
            </a:pPr>
            <a:r>
              <a:rPr dirty="0" sz="2500" spc="-10">
                <a:latin typeface="Times New Roman"/>
                <a:cs typeface="Times New Roman"/>
              </a:rPr>
              <a:t>Example: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-10">
                <a:latin typeface="Times New Roman"/>
                <a:cs typeface="Times New Roman"/>
              </a:rPr>
              <a:t>Finding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-50">
                <a:latin typeface="Times New Roman"/>
                <a:cs typeface="Times New Roman"/>
              </a:rPr>
              <a:t>a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-10">
                <a:latin typeface="Times New Roman"/>
                <a:cs typeface="Times New Roman"/>
              </a:rPr>
              <a:t>previous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-10">
                <a:latin typeface="Times New Roman"/>
                <a:cs typeface="Times New Roman"/>
              </a:rPr>
              <a:t>customer's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-10">
                <a:latin typeface="Times New Roman"/>
                <a:cs typeface="Times New Roman"/>
              </a:rPr>
              <a:t>purchase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-10">
                <a:latin typeface="Times New Roman"/>
                <a:cs typeface="Times New Roman"/>
              </a:rPr>
              <a:t>takes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-50">
                <a:latin typeface="Times New Roman"/>
                <a:cs typeface="Times New Roman"/>
              </a:rPr>
              <a:t>a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-20">
                <a:latin typeface="Times New Roman"/>
                <a:cs typeface="Times New Roman"/>
              </a:rPr>
              <a:t>long </a:t>
            </a:r>
            <a:r>
              <a:rPr dirty="0" sz="2500" spc="-10">
                <a:latin typeface="Times New Roman"/>
                <a:cs typeface="Times New Roman"/>
              </a:rPr>
              <a:t>time.</a:t>
            </a:r>
            <a:endParaRPr sz="2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65"/>
              </a:spcBef>
              <a:buFont typeface="Wingdings"/>
              <a:buChar char=""/>
              <a:tabLst>
                <a:tab pos="354965" algn="l"/>
              </a:tabLst>
            </a:pPr>
            <a:r>
              <a:rPr dirty="0" sz="2800" b="1">
                <a:latin typeface="Times New Roman"/>
                <a:cs typeface="Times New Roman"/>
              </a:rPr>
              <a:t>Hard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to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track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daily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or</a:t>
            </a:r>
            <a:r>
              <a:rPr dirty="0" sz="2800" spc="-10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monthly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sales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500">
                <a:latin typeface="Times New Roman"/>
                <a:cs typeface="Times New Roman"/>
              </a:rPr>
              <a:t>Example: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Shop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owners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must</a:t>
            </a:r>
            <a:r>
              <a:rPr dirty="0" sz="2500" spc="-2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check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many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pages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in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book</a:t>
            </a:r>
            <a:endParaRPr sz="2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60"/>
              </a:spcBef>
              <a:buFont typeface="Wingdings"/>
              <a:buChar char=""/>
              <a:tabLst>
                <a:tab pos="354965" algn="l"/>
              </a:tabLst>
            </a:pPr>
            <a:r>
              <a:rPr dirty="0" sz="2800" b="1">
                <a:latin typeface="Times New Roman"/>
                <a:cs typeface="Times New Roman"/>
              </a:rPr>
              <a:t>Manual</a:t>
            </a:r>
            <a:r>
              <a:rPr dirty="0" sz="2800" spc="-10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profit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calculation</a:t>
            </a:r>
            <a:r>
              <a:rPr dirty="0" sz="2800" spc="-9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takes</a:t>
            </a:r>
            <a:r>
              <a:rPr dirty="0" sz="2800" spc="-75" b="1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Times New Roman"/>
                <a:cs typeface="Times New Roman"/>
              </a:rPr>
              <a:t>time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615"/>
              </a:spcBef>
            </a:pPr>
            <a:r>
              <a:rPr dirty="0" sz="2500">
                <a:latin typeface="Times New Roman"/>
                <a:cs typeface="Times New Roman"/>
              </a:rPr>
              <a:t>Example: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Shop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owners</a:t>
            </a:r>
            <a:r>
              <a:rPr dirty="0" sz="2500" spc="6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calculate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profit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using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calculator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or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by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hand </a:t>
            </a:r>
            <a:r>
              <a:rPr dirty="0" sz="2500">
                <a:latin typeface="Times New Roman"/>
                <a:cs typeface="Times New Roman"/>
              </a:rPr>
              <a:t>every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day.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836" y="569976"/>
            <a:ext cx="7306818" cy="1009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60197" rIns="0" bIns="0" rtlCol="0" vert="horz">
            <a:spAutoFit/>
          </a:bodyPr>
          <a:lstStyle/>
          <a:p>
            <a:pPr marL="88963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95"/>
              <a:t> </a:t>
            </a:r>
            <a:r>
              <a:rPr dirty="0"/>
              <a:t>statement</a:t>
            </a:r>
            <a:r>
              <a:rPr dirty="0" spc="-90"/>
              <a:t> </a:t>
            </a:r>
            <a:r>
              <a:rPr dirty="0"/>
              <a:t>and</a:t>
            </a:r>
            <a:r>
              <a:rPr dirty="0" spc="-95"/>
              <a:t> </a:t>
            </a:r>
            <a:r>
              <a:rPr dirty="0" spc="-10"/>
              <a:t>Objectives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7155" y="1199388"/>
            <a:ext cx="6758178" cy="937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94843" y="1354582"/>
            <a:ext cx="8483600" cy="38360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u="sng" sz="25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Problem</a:t>
            </a:r>
            <a:r>
              <a:rPr dirty="0" u="sng" sz="2500" spc="36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 </a:t>
            </a:r>
            <a:r>
              <a:rPr dirty="0" u="sng" sz="25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statement</a:t>
            </a:r>
            <a:r>
              <a:rPr dirty="0" sz="2500" b="1">
                <a:latin typeface="Times New Roman"/>
                <a:cs typeface="Times New Roman"/>
              </a:rPr>
              <a:t>:</a:t>
            </a:r>
            <a:r>
              <a:rPr dirty="0" sz="2500" spc="365" b="1">
                <a:latin typeface="Times New Roman"/>
                <a:cs typeface="Times New Roman"/>
              </a:rPr>
              <a:t>   </a:t>
            </a:r>
            <a:r>
              <a:rPr dirty="0" sz="2500">
                <a:solidFill>
                  <a:srgbClr val="404040"/>
                </a:solidFill>
                <a:latin typeface="Times New Roman"/>
                <a:cs typeface="Times New Roman"/>
              </a:rPr>
              <a:t>Small</a:t>
            </a:r>
            <a:r>
              <a:rPr dirty="0" sz="2500" spc="365">
                <a:solidFill>
                  <a:srgbClr val="404040"/>
                </a:solidFill>
                <a:latin typeface="Times New Roman"/>
                <a:cs typeface="Times New Roman"/>
              </a:rPr>
              <a:t>   </a:t>
            </a:r>
            <a:r>
              <a:rPr dirty="0" sz="2500">
                <a:solidFill>
                  <a:srgbClr val="404040"/>
                </a:solidFill>
                <a:latin typeface="Times New Roman"/>
                <a:cs typeface="Times New Roman"/>
              </a:rPr>
              <a:t>business</a:t>
            </a:r>
            <a:r>
              <a:rPr dirty="0" sz="2500" spc="365">
                <a:solidFill>
                  <a:srgbClr val="404040"/>
                </a:solidFill>
                <a:latin typeface="Times New Roman"/>
                <a:cs typeface="Times New Roman"/>
              </a:rPr>
              <a:t>   </a:t>
            </a:r>
            <a:r>
              <a:rPr dirty="0" sz="2500">
                <a:solidFill>
                  <a:srgbClr val="404040"/>
                </a:solidFill>
                <a:latin typeface="Times New Roman"/>
                <a:cs typeface="Times New Roman"/>
              </a:rPr>
              <a:t>owners</a:t>
            </a:r>
            <a:r>
              <a:rPr dirty="0" sz="2500" spc="370">
                <a:solidFill>
                  <a:srgbClr val="404040"/>
                </a:solidFill>
                <a:latin typeface="Times New Roman"/>
                <a:cs typeface="Times New Roman"/>
              </a:rPr>
              <a:t>   </a:t>
            </a:r>
            <a:r>
              <a:rPr dirty="0" sz="2500">
                <a:solidFill>
                  <a:srgbClr val="404040"/>
                </a:solidFill>
                <a:latin typeface="Times New Roman"/>
                <a:cs typeface="Times New Roman"/>
              </a:rPr>
              <a:t>rely</a:t>
            </a:r>
            <a:r>
              <a:rPr dirty="0" sz="2500" spc="360">
                <a:solidFill>
                  <a:srgbClr val="404040"/>
                </a:solidFill>
                <a:latin typeface="Times New Roman"/>
                <a:cs typeface="Times New Roman"/>
              </a:rPr>
              <a:t>   </a:t>
            </a:r>
            <a:r>
              <a:rPr dirty="0" sz="2500" spc="-25">
                <a:solidFill>
                  <a:srgbClr val="404040"/>
                </a:solidFill>
                <a:latin typeface="Times New Roman"/>
                <a:cs typeface="Times New Roman"/>
              </a:rPr>
              <a:t>on </a:t>
            </a:r>
            <a:r>
              <a:rPr dirty="0" sz="2500" spc="-10">
                <a:solidFill>
                  <a:srgbClr val="404040"/>
                </a:solidFill>
                <a:latin typeface="Times New Roman"/>
                <a:cs typeface="Times New Roman"/>
              </a:rPr>
              <a:t>manual/notebook-</a:t>
            </a:r>
            <a:r>
              <a:rPr dirty="0" sz="2500">
                <a:solidFill>
                  <a:srgbClr val="404040"/>
                </a:solidFill>
                <a:latin typeface="Times New Roman"/>
                <a:cs typeface="Times New Roman"/>
              </a:rPr>
              <a:t>based</a:t>
            </a:r>
            <a:r>
              <a:rPr dirty="0" sz="2500" spc="45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dirty="0" sz="2500" spc="-10">
                <a:solidFill>
                  <a:srgbClr val="404040"/>
                </a:solidFill>
                <a:latin typeface="Times New Roman"/>
                <a:cs typeface="Times New Roman"/>
              </a:rPr>
              <a:t>record-</a:t>
            </a:r>
            <a:r>
              <a:rPr dirty="0" sz="2500">
                <a:solidFill>
                  <a:srgbClr val="404040"/>
                </a:solidFill>
                <a:latin typeface="Times New Roman"/>
                <a:cs typeface="Times New Roman"/>
              </a:rPr>
              <a:t>keeping</a:t>
            </a:r>
            <a:r>
              <a:rPr dirty="0" sz="2500" spc="5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dirty="0" sz="250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dirty="0" sz="2500" spc="5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dirty="0" sz="2500">
                <a:solidFill>
                  <a:srgbClr val="404040"/>
                </a:solidFill>
                <a:latin typeface="Times New Roman"/>
                <a:cs typeface="Times New Roman"/>
              </a:rPr>
              <a:t>customer</a:t>
            </a:r>
            <a:r>
              <a:rPr dirty="0" sz="2500" spc="5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dirty="0" sz="25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500" spc="45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dirty="0" sz="2500" spc="-10">
                <a:solidFill>
                  <a:srgbClr val="404040"/>
                </a:solidFill>
                <a:latin typeface="Times New Roman"/>
                <a:cs typeface="Times New Roman"/>
              </a:rPr>
              <a:t>sales </a:t>
            </a:r>
            <a:r>
              <a:rPr dirty="0" sz="2500">
                <a:solidFill>
                  <a:srgbClr val="404040"/>
                </a:solidFill>
                <a:latin typeface="Times New Roman"/>
                <a:cs typeface="Times New Roman"/>
              </a:rPr>
              <a:t>data,</a:t>
            </a:r>
            <a:r>
              <a:rPr dirty="0" sz="2500" spc="9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404040"/>
                </a:solidFill>
                <a:latin typeface="Times New Roman"/>
                <a:cs typeface="Times New Roman"/>
              </a:rPr>
              <a:t>causing</a:t>
            </a:r>
            <a:r>
              <a:rPr dirty="0" sz="2500" spc="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404040"/>
                </a:solidFill>
                <a:latin typeface="Times New Roman"/>
                <a:cs typeface="Times New Roman"/>
              </a:rPr>
              <a:t>data</a:t>
            </a:r>
            <a:r>
              <a:rPr dirty="0" sz="2500" spc="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404040"/>
                </a:solidFill>
                <a:latin typeface="Times New Roman"/>
                <a:cs typeface="Times New Roman"/>
              </a:rPr>
              <a:t>loss,</a:t>
            </a:r>
            <a:r>
              <a:rPr dirty="0" sz="2500" spc="9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404040"/>
                </a:solidFill>
                <a:latin typeface="Times New Roman"/>
                <a:cs typeface="Times New Roman"/>
              </a:rPr>
              <a:t>calculation</a:t>
            </a:r>
            <a:r>
              <a:rPr dirty="0" sz="2500" spc="1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404040"/>
                </a:solidFill>
                <a:latin typeface="Times New Roman"/>
                <a:cs typeface="Times New Roman"/>
              </a:rPr>
              <a:t>errors,</a:t>
            </a:r>
            <a:r>
              <a:rPr dirty="0" sz="2500" spc="1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500" spc="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404040"/>
                </a:solidFill>
                <a:latin typeface="Times New Roman"/>
                <a:cs typeface="Times New Roman"/>
              </a:rPr>
              <a:t>poor</a:t>
            </a:r>
            <a:r>
              <a:rPr dirty="0" sz="2500" spc="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404040"/>
                </a:solidFill>
                <a:latin typeface="Times New Roman"/>
                <a:cs typeface="Times New Roman"/>
              </a:rPr>
              <a:t>visibility</a:t>
            </a:r>
            <a:r>
              <a:rPr dirty="0" sz="2500" spc="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500" spc="-20">
                <a:solidFill>
                  <a:srgbClr val="404040"/>
                </a:solidFill>
                <a:latin typeface="Times New Roman"/>
                <a:cs typeface="Times New Roman"/>
              </a:rPr>
              <a:t>into </a:t>
            </a:r>
            <a:r>
              <a:rPr dirty="0" sz="2500">
                <a:solidFill>
                  <a:srgbClr val="404040"/>
                </a:solidFill>
                <a:latin typeface="Times New Roman"/>
                <a:cs typeface="Times New Roman"/>
              </a:rPr>
              <a:t>business</a:t>
            </a:r>
            <a:r>
              <a:rPr dirty="0" sz="2500" spc="-9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404040"/>
                </a:solidFill>
                <a:latin typeface="Times New Roman"/>
                <a:cs typeface="Times New Roman"/>
              </a:rPr>
              <a:t>performance.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u="sng" sz="25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Objectives:</a:t>
            </a:r>
            <a:endParaRPr sz="25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469265" algn="l"/>
              </a:tabLst>
            </a:pPr>
            <a:r>
              <a:rPr dirty="0" sz="2500">
                <a:latin typeface="Times New Roman"/>
                <a:cs typeface="Times New Roman"/>
              </a:rPr>
              <a:t>Develop</a:t>
            </a:r>
            <a:r>
              <a:rPr dirty="0" sz="2500" spc="-8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</a:t>
            </a:r>
            <a:r>
              <a:rPr dirty="0" sz="2500" spc="-9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simple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Business</a:t>
            </a:r>
            <a:r>
              <a:rPr dirty="0" sz="2500" spc="-8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Customer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Management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System</a:t>
            </a:r>
            <a:endParaRPr sz="25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469265" algn="l"/>
              </a:tabLst>
            </a:pPr>
            <a:r>
              <a:rPr dirty="0" sz="2500">
                <a:latin typeface="Times New Roman"/>
                <a:cs typeface="Times New Roman"/>
              </a:rPr>
              <a:t>Provide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secure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login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&amp;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data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backup</a:t>
            </a:r>
            <a:endParaRPr sz="25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469265" algn="l"/>
              </a:tabLst>
            </a:pPr>
            <a:r>
              <a:rPr dirty="0" sz="2500">
                <a:latin typeface="Times New Roman"/>
                <a:cs typeface="Times New Roman"/>
              </a:rPr>
              <a:t>Track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total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customers,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sales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&amp;</a:t>
            </a:r>
            <a:r>
              <a:rPr dirty="0" sz="2500" spc="-8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profit</a:t>
            </a:r>
            <a:endParaRPr sz="25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469265" algn="l"/>
              </a:tabLst>
            </a:pPr>
            <a:r>
              <a:rPr dirty="0" sz="2500">
                <a:latin typeface="Times New Roman"/>
                <a:cs typeface="Times New Roman"/>
              </a:rPr>
              <a:t>Enable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easy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addition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editing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of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records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625" y="778550"/>
            <a:ext cx="4518331" cy="4385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5521" rIns="0" bIns="0" rtlCol="0" vert="horz">
            <a:spAutoFit/>
          </a:bodyPr>
          <a:lstStyle/>
          <a:p>
            <a:pPr marL="6604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dirty="0" spc="-135"/>
              <a:t> </a:t>
            </a:r>
            <a:r>
              <a:rPr dirty="0" spc="-10"/>
              <a:t>Methodology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555" y="1124712"/>
            <a:ext cx="4549902" cy="937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8739" y="1346708"/>
            <a:ext cx="9135110" cy="367855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Proposed</a:t>
            </a:r>
            <a:r>
              <a:rPr dirty="0" u="sng" sz="2800" spc="16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Solution</a:t>
            </a:r>
            <a:r>
              <a:rPr dirty="0" u="sng" sz="2800" spc="16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Overview</a:t>
            </a:r>
            <a:r>
              <a:rPr dirty="0" sz="2800" b="1">
                <a:latin typeface="Times New Roman"/>
                <a:cs typeface="Times New Roman"/>
              </a:rPr>
              <a:t>:</a:t>
            </a:r>
            <a:r>
              <a:rPr dirty="0" sz="2500">
                <a:latin typeface="Times New Roman"/>
                <a:cs typeface="Times New Roman"/>
              </a:rPr>
              <a:t>Our</a:t>
            </a:r>
            <a:r>
              <a:rPr dirty="0" sz="2500" spc="9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project</a:t>
            </a:r>
            <a:r>
              <a:rPr dirty="0" sz="2500" spc="10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introduces</a:t>
            </a:r>
            <a:r>
              <a:rPr dirty="0" sz="2500" spc="11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</a:t>
            </a:r>
            <a:r>
              <a:rPr dirty="0" sz="2500" spc="9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web-based </a:t>
            </a:r>
            <a:r>
              <a:rPr dirty="0" sz="2500">
                <a:latin typeface="Times New Roman"/>
                <a:cs typeface="Times New Roman"/>
              </a:rPr>
              <a:t>Small  Business</a:t>
            </a:r>
            <a:r>
              <a:rPr dirty="0" sz="2500" spc="5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Customer</a:t>
            </a:r>
            <a:r>
              <a:rPr dirty="0" sz="2500" spc="15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Management</a:t>
            </a:r>
            <a:r>
              <a:rPr dirty="0" sz="2500" spc="5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System</a:t>
            </a:r>
            <a:r>
              <a:rPr dirty="0" sz="2500" spc="5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that</a:t>
            </a:r>
            <a:r>
              <a:rPr dirty="0" sz="2500" spc="10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helps</a:t>
            </a:r>
            <a:r>
              <a:rPr dirty="0" sz="2500" spc="5">
                <a:latin typeface="Times New Roman"/>
                <a:cs typeface="Times New Roman"/>
              </a:rPr>
              <a:t>  </a:t>
            </a:r>
            <a:r>
              <a:rPr dirty="0" sz="2500" spc="-10">
                <a:latin typeface="Times New Roman"/>
                <a:cs typeface="Times New Roman"/>
              </a:rPr>
              <a:t>business </a:t>
            </a:r>
            <a:r>
              <a:rPr dirty="0" sz="2500">
                <a:latin typeface="Times New Roman"/>
                <a:cs typeface="Times New Roman"/>
              </a:rPr>
              <a:t>owners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digitally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manage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customer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records,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sales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data,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profit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details </a:t>
            </a:r>
            <a:r>
              <a:rPr dirty="0" sz="2500">
                <a:latin typeface="Times New Roman"/>
                <a:cs typeface="Times New Roman"/>
              </a:rPr>
              <a:t>in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organized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manner</a:t>
            </a:r>
            <a:r>
              <a:rPr dirty="0" sz="2800" spc="-1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670"/>
              </a:spcBef>
            </a:pP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Modules</a:t>
            </a:r>
            <a:r>
              <a:rPr dirty="0" u="sng" sz="2800" spc="-5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28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2800" spc="-6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System: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500">
                <a:latin typeface="Times New Roman"/>
                <a:cs typeface="Times New Roman"/>
              </a:rPr>
              <a:t>Authentication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Module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(Login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&amp;</a:t>
            </a:r>
            <a:r>
              <a:rPr dirty="0" sz="2500" spc="-8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Signup)</a:t>
            </a:r>
            <a:endParaRPr sz="2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500">
                <a:latin typeface="Times New Roman"/>
                <a:cs typeface="Times New Roman"/>
              </a:rPr>
              <a:t>Dashboard</a:t>
            </a:r>
            <a:r>
              <a:rPr dirty="0" sz="2500" spc="-9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Module</a:t>
            </a:r>
            <a:r>
              <a:rPr dirty="0" sz="2500" spc="-9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(Business</a:t>
            </a:r>
            <a:r>
              <a:rPr dirty="0" sz="2500" spc="-8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Overview)</a:t>
            </a:r>
            <a:endParaRPr sz="2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500">
                <a:latin typeface="Times New Roman"/>
                <a:cs typeface="Times New Roman"/>
              </a:rPr>
              <a:t>Customer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Management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Module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(Add</a:t>
            </a:r>
            <a:r>
              <a:rPr dirty="0" sz="2500" spc="-8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&amp;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Manage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Data)</a:t>
            </a:r>
            <a:endParaRPr sz="2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500">
                <a:latin typeface="Times New Roman"/>
                <a:cs typeface="Times New Roman"/>
              </a:rPr>
              <a:t>History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Module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(View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&amp;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Edit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Past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Records)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577" y="548429"/>
            <a:ext cx="2701423" cy="4431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9664" rIns="0" bIns="0" rtlCol="0" vert="horz">
            <a:spAutoFit/>
          </a:bodyPr>
          <a:lstStyle/>
          <a:p>
            <a:pPr marL="588645">
              <a:lnSpc>
                <a:spcPct val="100000"/>
              </a:lnSpc>
              <a:spcBef>
                <a:spcPts val="100"/>
              </a:spcBef>
            </a:pPr>
            <a:r>
              <a:rPr dirty="0"/>
              <a:t>Working</a:t>
            </a:r>
            <a:r>
              <a:rPr dirty="0" spc="-210"/>
              <a:t> </a:t>
            </a:r>
            <a:r>
              <a:rPr dirty="0" spc="-20"/>
              <a:t>flow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899160"/>
            <a:ext cx="10080625" cy="6306820"/>
            <a:chOff x="0" y="899160"/>
            <a:chExt cx="10080625" cy="630682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6927" y="899160"/>
              <a:ext cx="2728722" cy="9372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71613"/>
              <a:ext cx="10080624" cy="62340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9526" y="644441"/>
            <a:ext cx="3903826" cy="4431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5345" rIns="0" bIns="0" rtlCol="0" vert="horz">
            <a:spAutoFit/>
          </a:bodyPr>
          <a:lstStyle/>
          <a:p>
            <a:pPr marL="1183640">
              <a:lnSpc>
                <a:spcPct val="100000"/>
              </a:lnSpc>
              <a:spcBef>
                <a:spcPts val="100"/>
              </a:spcBef>
            </a:pPr>
            <a:r>
              <a:rPr dirty="0"/>
              <a:t>Experimental</a:t>
            </a:r>
            <a:r>
              <a:rPr dirty="0" spc="-200"/>
              <a:t> </a:t>
            </a:r>
            <a:r>
              <a:rPr dirty="0" spc="-10"/>
              <a:t>Setup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1288" y="995172"/>
            <a:ext cx="3949446" cy="9372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55116" y="1279601"/>
            <a:ext cx="6493510" cy="1978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2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Technologies</a:t>
            </a:r>
            <a:r>
              <a:rPr dirty="0" u="sng" sz="2800" spc="-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Used: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500" spc="-10" b="1">
                <a:latin typeface="Times New Roman"/>
                <a:cs typeface="Times New Roman"/>
              </a:rPr>
              <a:t>Frontend</a:t>
            </a:r>
            <a:r>
              <a:rPr dirty="0" sz="2500" spc="-10">
                <a:latin typeface="Times New Roman"/>
                <a:cs typeface="Times New Roman"/>
              </a:rPr>
              <a:t>: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HTML,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CSS,</a:t>
            </a:r>
            <a:r>
              <a:rPr dirty="0" sz="2500" spc="-7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JavaScript</a:t>
            </a:r>
            <a:endParaRPr sz="25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  <a:tab pos="1916430" algn="l"/>
              </a:tabLst>
            </a:pPr>
            <a:r>
              <a:rPr dirty="0" sz="2500" spc="-10" b="1">
                <a:latin typeface="Times New Roman"/>
                <a:cs typeface="Times New Roman"/>
              </a:rPr>
              <a:t>Backend:</a:t>
            </a:r>
            <a:r>
              <a:rPr dirty="0" sz="2500" b="1">
                <a:latin typeface="Times New Roman"/>
                <a:cs typeface="Times New Roman"/>
              </a:rPr>
              <a:t>	</a:t>
            </a:r>
            <a:r>
              <a:rPr dirty="0" sz="2500" spc="-10">
                <a:latin typeface="Times New Roman"/>
                <a:cs typeface="Times New Roman"/>
              </a:rPr>
              <a:t>Node.js</a:t>
            </a:r>
            <a:endParaRPr sz="25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 sz="2500" b="1">
                <a:latin typeface="Times New Roman"/>
                <a:cs typeface="Times New Roman"/>
              </a:rPr>
              <a:t>Database</a:t>
            </a:r>
            <a:r>
              <a:rPr dirty="0" sz="2500">
                <a:latin typeface="Times New Roman"/>
                <a:cs typeface="Times New Roman"/>
              </a:rPr>
              <a:t>:</a:t>
            </a:r>
            <a:r>
              <a:rPr dirty="0" sz="2500" spc="-10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MySQL</a:t>
            </a:r>
            <a:endParaRPr sz="25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 sz="2500" spc="-35" b="1">
                <a:latin typeface="Times New Roman"/>
                <a:cs typeface="Times New Roman"/>
              </a:rPr>
              <a:t>Tools:</a:t>
            </a:r>
            <a:r>
              <a:rPr dirty="0" sz="2500" spc="-105" b="1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VS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Code,</a:t>
            </a:r>
            <a:r>
              <a:rPr dirty="0" sz="2500" spc="-100">
                <a:latin typeface="Times New Roman"/>
                <a:cs typeface="Times New Roman"/>
              </a:rPr>
              <a:t> </a:t>
            </a:r>
            <a:r>
              <a:rPr dirty="0" sz="2500" spc="-50">
                <a:latin typeface="Times New Roman"/>
                <a:cs typeface="Times New Roman"/>
              </a:rPr>
              <a:t>Web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Browser,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MySQL</a:t>
            </a:r>
            <a:r>
              <a:rPr dirty="0" sz="2500" spc="-15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Server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0362" y="3686238"/>
            <a:ext cx="2624074" cy="26240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87725" y="3497326"/>
            <a:ext cx="2624201" cy="26240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38848" y="3648075"/>
            <a:ext cx="2473325" cy="24733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73" y="301541"/>
            <a:ext cx="3133280" cy="4431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15620">
              <a:lnSpc>
                <a:spcPct val="100000"/>
              </a:lnSpc>
              <a:spcBef>
                <a:spcPts val="100"/>
              </a:spcBef>
            </a:pPr>
            <a:r>
              <a:rPr dirty="0" u="none" spc="-10"/>
              <a:t>Implementation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703199"/>
            <a:ext cx="10080625" cy="6821805"/>
            <a:chOff x="0" y="703199"/>
            <a:chExt cx="10080625" cy="682180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03199"/>
              <a:ext cx="5419724" cy="235584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22900" y="703199"/>
              <a:ext cx="4657725" cy="233044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638" y="3063875"/>
              <a:ext cx="5419723" cy="24892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19725" y="3033649"/>
              <a:ext cx="4660900" cy="255905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55826" y="5034024"/>
              <a:ext cx="6408674" cy="24907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69" y="90513"/>
            <a:ext cx="3484308" cy="44351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650" y="-70866"/>
            <a:ext cx="35058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Result</a:t>
            </a:r>
            <a:r>
              <a:rPr dirty="0" spc="-15"/>
              <a:t> </a:t>
            </a:r>
            <a:r>
              <a:rPr dirty="0" spc="-30"/>
              <a:t>&amp;</a:t>
            </a:r>
            <a:r>
              <a:rPr dirty="0" spc="-200"/>
              <a:t> </a:t>
            </a:r>
            <a:r>
              <a:rPr dirty="0" spc="-10"/>
              <a:t>Analysis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92" y="438912"/>
            <a:ext cx="3530346" cy="937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18363" y="387437"/>
            <a:ext cx="7562215" cy="529590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u="sng" sz="3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Result</a:t>
            </a:r>
            <a:r>
              <a:rPr dirty="0" u="sng" sz="3200" spc="-19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Achieved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800">
                <a:latin typeface="Times New Roman"/>
                <a:cs typeface="Times New Roman"/>
              </a:rPr>
              <a:t>Reduced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manual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workload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by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approximately</a:t>
            </a:r>
            <a:r>
              <a:rPr dirty="0" sz="2800" spc="-95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60%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800">
                <a:latin typeface="Times New Roman"/>
                <a:cs typeface="Times New Roman"/>
              </a:rPr>
              <a:t>Improved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record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management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efficiency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800">
                <a:latin typeface="Times New Roman"/>
                <a:cs typeface="Times New Roman"/>
              </a:rPr>
              <a:t>Faster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access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customer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sales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data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800">
                <a:latin typeface="Times New Roman"/>
                <a:cs typeface="Times New Roman"/>
              </a:rPr>
              <a:t>Automated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calculation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profit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sales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u="sng" sz="3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Analysis</a:t>
            </a:r>
            <a:r>
              <a:rPr dirty="0" u="sng" sz="32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3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32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800">
                <a:latin typeface="Times New Roman"/>
                <a:cs typeface="Times New Roman"/>
              </a:rPr>
              <a:t>Dashboard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provides</a:t>
            </a:r>
            <a:r>
              <a:rPr dirty="0" sz="2800" spc="-7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real-</a:t>
            </a:r>
            <a:r>
              <a:rPr dirty="0" sz="2800">
                <a:latin typeface="Times New Roman"/>
                <a:cs typeface="Times New Roman"/>
              </a:rPr>
              <a:t>time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business</a:t>
            </a:r>
            <a:r>
              <a:rPr dirty="0" sz="2800" spc="-7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overview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800">
                <a:latin typeface="Times New Roman"/>
                <a:cs typeface="Times New Roman"/>
              </a:rPr>
              <a:t>Digital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storage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minimizes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data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loss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risk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800">
                <a:latin typeface="Times New Roman"/>
                <a:cs typeface="Times New Roman"/>
              </a:rPr>
              <a:t>History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tracking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improves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decision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making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800">
                <a:latin typeface="Times New Roman"/>
                <a:cs typeface="Times New Roman"/>
              </a:rPr>
              <a:t>Simplifies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daily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business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operations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16" y="589581"/>
            <a:ext cx="5632819" cy="3563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5102" y="433832"/>
            <a:ext cx="564388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Conclusion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/>
              <a:t>Future</a:t>
            </a:r>
            <a:r>
              <a:rPr dirty="0" spc="-45"/>
              <a:t> </a:t>
            </a:r>
            <a:r>
              <a:rPr dirty="0" spc="-20"/>
              <a:t>work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743" y="944880"/>
            <a:ext cx="5668517" cy="937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18363" y="1143346"/>
            <a:ext cx="9833610" cy="448183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265"/>
              </a:spcBef>
            </a:pPr>
            <a:r>
              <a:rPr dirty="0" u="sng" sz="3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Conclusion:</a:t>
            </a:r>
            <a:r>
              <a:rPr dirty="0" sz="3200" spc="-125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conclusion,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proposed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Small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Business</a:t>
            </a:r>
            <a:r>
              <a:rPr dirty="0" sz="2800" spc="70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Customer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Management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System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simplifies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customer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sales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record </a:t>
            </a:r>
            <a:r>
              <a:rPr dirty="0" sz="2800">
                <a:latin typeface="Times New Roman"/>
                <a:cs typeface="Times New Roman"/>
              </a:rPr>
              <a:t>management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by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providing</a:t>
            </a:r>
            <a:r>
              <a:rPr dirty="0" sz="2800" spc="-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digital,</a:t>
            </a:r>
            <a:r>
              <a:rPr dirty="0" sz="2800" spc="-8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organized,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efficient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platform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small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business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owners.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u="sng" sz="3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Future</a:t>
            </a:r>
            <a:r>
              <a:rPr dirty="0" u="sng" sz="3200" spc="-1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work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800">
                <a:latin typeface="Times New Roman"/>
                <a:cs typeface="Times New Roman"/>
              </a:rPr>
              <a:t>Integration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with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cloud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storage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data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backup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800" spc="-10">
                <a:latin typeface="Times New Roman"/>
                <a:cs typeface="Times New Roman"/>
              </a:rPr>
              <a:t>Mobile-</a:t>
            </a:r>
            <a:r>
              <a:rPr dirty="0" sz="2800">
                <a:latin typeface="Times New Roman"/>
                <a:cs typeface="Times New Roman"/>
              </a:rPr>
              <a:t>friendly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application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development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800">
                <a:latin typeface="Times New Roman"/>
                <a:cs typeface="Times New Roman"/>
              </a:rPr>
              <a:t>SMS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or</a:t>
            </a:r>
            <a:r>
              <a:rPr dirty="0" sz="2800" spc="-9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WhatsApp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customer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notification</a:t>
            </a:r>
            <a:r>
              <a:rPr dirty="0" sz="2800" spc="-9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feature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800" spc="-10">
                <a:latin typeface="Times New Roman"/>
                <a:cs typeface="Times New Roman"/>
              </a:rPr>
              <a:t>Multi-</a:t>
            </a:r>
            <a:r>
              <a:rPr dirty="0" sz="2800">
                <a:latin typeface="Times New Roman"/>
                <a:cs typeface="Times New Roman"/>
              </a:rPr>
              <a:t>user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access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staff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management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77" y="783129"/>
            <a:ext cx="2129137" cy="3563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822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References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138428"/>
            <a:ext cx="2164842" cy="93725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3185" rIns="0" bIns="0" rtlCol="0" vert="horz">
            <a:spAutoFit/>
          </a:bodyPr>
          <a:lstStyle/>
          <a:p>
            <a:pPr marL="318135" indent="-307975">
              <a:lnSpc>
                <a:spcPct val="100000"/>
              </a:lnSpc>
              <a:spcBef>
                <a:spcPts val="655"/>
              </a:spcBef>
              <a:buSzPct val="124000"/>
              <a:buAutoNum type="arabicPeriod"/>
              <a:tabLst>
                <a:tab pos="318135" algn="l"/>
              </a:tabLst>
            </a:pPr>
            <a:r>
              <a:rPr dirty="0" b="1">
                <a:latin typeface="Times New Roman"/>
                <a:cs typeface="Times New Roman"/>
              </a:rPr>
              <a:t>Zoho</a:t>
            </a:r>
            <a:r>
              <a:rPr dirty="0" spc="-3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CRM</a:t>
            </a:r>
            <a:r>
              <a:rPr dirty="0" spc="-45" b="1">
                <a:latin typeface="Times New Roman"/>
                <a:cs typeface="Times New Roman"/>
              </a:rPr>
              <a:t> </a:t>
            </a:r>
            <a:r>
              <a:rPr dirty="0"/>
              <a:t>—</a:t>
            </a:r>
            <a:r>
              <a:rPr dirty="0" spc="-100"/>
              <a:t> </a:t>
            </a:r>
            <a:r>
              <a:rPr dirty="0" spc="-75"/>
              <a:t>Web-</a:t>
            </a:r>
            <a:r>
              <a:rPr dirty="0"/>
              <a:t>based</a:t>
            </a:r>
            <a:r>
              <a:rPr dirty="0" spc="-10"/>
              <a:t> </a:t>
            </a:r>
            <a:r>
              <a:rPr dirty="0"/>
              <a:t>CRM</a:t>
            </a:r>
            <a:r>
              <a:rPr dirty="0" spc="-55"/>
              <a:t> </a:t>
            </a:r>
            <a:r>
              <a:rPr dirty="0" spc="-10"/>
              <a:t>system</a:t>
            </a:r>
          </a:p>
          <a:p>
            <a:pPr lvl="1" marL="354965" indent="-342265">
              <a:lnSpc>
                <a:spcPct val="100000"/>
              </a:lnSpc>
              <a:spcBef>
                <a:spcPts val="1120"/>
              </a:spcBef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dirty="0" sz="2500" spc="-25" b="1">
                <a:latin typeface="Times New Roman"/>
                <a:cs typeface="Times New Roman"/>
              </a:rPr>
              <a:t>Link:</a:t>
            </a:r>
            <a:r>
              <a:rPr dirty="0" u="sng" sz="2500" spc="-25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4"/>
              </a:rPr>
              <a:t>https://www.zoho.com/en</a:t>
            </a:r>
            <a:r>
              <a:rPr dirty="0" u="sng" sz="2500" spc="-25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4"/>
              </a:rPr>
              <a:t>-</a:t>
            </a:r>
            <a:r>
              <a:rPr dirty="0" u="sng" sz="2500" spc="-1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4"/>
              </a:rPr>
              <a:t>in/crm/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b="1">
                <a:latin typeface="Times New Roman"/>
                <a:cs typeface="Times New Roman"/>
              </a:rPr>
              <a:t>2.</a:t>
            </a:r>
            <a:r>
              <a:rPr dirty="0" spc="-25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SalezShark</a:t>
            </a:r>
          </a:p>
          <a:p>
            <a:pPr marL="12700" marR="5080" indent="342265">
              <a:lnSpc>
                <a:spcPts val="4110"/>
              </a:lnSpc>
              <a:spcBef>
                <a:spcPts val="300"/>
              </a:spcBef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dirty="0" spc="-20" b="1">
                <a:latin typeface="Times New Roman"/>
                <a:cs typeface="Times New Roman"/>
              </a:rPr>
              <a:t>Link:</a:t>
            </a:r>
            <a:r>
              <a:rPr dirty="0" u="sng" spc="-2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hlinkClick r:id="rId5"/>
              </a:rPr>
              <a:t>https</a:t>
            </a:r>
            <a:r>
              <a:rPr dirty="0" u="sng" spc="-2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hlinkClick r:id="rId5"/>
              </a:rPr>
              <a:t>://www.salezshark.com/crm/web</a:t>
            </a:r>
            <a:r>
              <a:rPr dirty="0" u="sng" spc="-2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hlinkClick r:id="rId5"/>
              </a:rPr>
              <a:t>-</a:t>
            </a:r>
            <a:r>
              <a:rPr dirty="0" u="sng" spc="-1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hlinkClick r:id="rId5"/>
              </a:rPr>
              <a:t>based</a:t>
            </a:r>
            <a:r>
              <a:rPr dirty="0" u="sng" spc="-1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hlinkClick r:id="rId5"/>
              </a:rPr>
              <a:t>-</a:t>
            </a:r>
            <a:r>
              <a:rPr dirty="0" u="sng" spc="-1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hlinkClick r:id="rId5"/>
              </a:rPr>
              <a:t>crm</a:t>
            </a:r>
            <a:r>
              <a:rPr dirty="0" u="sng" spc="-1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hlinkClick r:id="rId5"/>
              </a:rPr>
              <a:t>-</a:t>
            </a:r>
            <a:r>
              <a:rPr dirty="0" u="sng" spc="-1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hlinkClick r:id="rId5"/>
              </a:rPr>
              <a:t>solutions</a:t>
            </a:r>
            <a:r>
              <a:rPr dirty="0" spc="-10">
                <a:solidFill>
                  <a:srgbClr val="3ECDE7"/>
                </a:solidFill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3.Catalystk</a:t>
            </a:r>
            <a:r>
              <a:rPr dirty="0" spc="-70" b="1">
                <a:latin typeface="Times New Roman"/>
                <a:cs typeface="Times New Roman"/>
              </a:rPr>
              <a:t> </a:t>
            </a:r>
            <a:r>
              <a:rPr dirty="0" spc="-55" b="1">
                <a:latin typeface="Times New Roman"/>
                <a:cs typeface="Times New Roman"/>
              </a:rPr>
              <a:t>Web</a:t>
            </a:r>
            <a:r>
              <a:rPr dirty="0" spc="-55"/>
              <a:t>-</a:t>
            </a:r>
            <a:r>
              <a:rPr dirty="0"/>
              <a:t>Based</a:t>
            </a:r>
            <a:r>
              <a:rPr dirty="0" spc="-35"/>
              <a:t> </a:t>
            </a:r>
            <a:r>
              <a:rPr dirty="0"/>
              <a:t>CRM</a:t>
            </a:r>
            <a:r>
              <a:rPr dirty="0" spc="-55"/>
              <a:t> </a:t>
            </a:r>
            <a:r>
              <a:rPr dirty="0"/>
              <a:t>for</a:t>
            </a:r>
            <a:r>
              <a:rPr dirty="0" spc="-35"/>
              <a:t> </a:t>
            </a:r>
            <a:r>
              <a:rPr dirty="0"/>
              <a:t>Small</a:t>
            </a:r>
            <a:r>
              <a:rPr dirty="0" spc="-25"/>
              <a:t> </a:t>
            </a:r>
            <a:r>
              <a:rPr dirty="0" spc="-10"/>
              <a:t>Business</a:t>
            </a:r>
          </a:p>
          <a:p>
            <a:pPr marL="354965" indent="-342265">
              <a:lnSpc>
                <a:spcPct val="100000"/>
              </a:lnSpc>
              <a:spcBef>
                <a:spcPts val="780"/>
              </a:spcBef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dirty="0" spc="-25" b="1">
                <a:latin typeface="Times New Roman"/>
                <a:cs typeface="Times New Roman"/>
              </a:rPr>
              <a:t>Link:</a:t>
            </a:r>
            <a:r>
              <a:rPr dirty="0" u="sng" spc="-25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hlinkClick r:id="rId6"/>
              </a:rPr>
              <a:t>https</a:t>
            </a:r>
            <a:r>
              <a:rPr dirty="0" u="sng" spc="-25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hlinkClick r:id="rId6"/>
              </a:rPr>
              <a:t>://www.catalystk.com/web</a:t>
            </a:r>
            <a:r>
              <a:rPr dirty="0" u="sng" spc="-25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hlinkClick r:id="rId6"/>
              </a:rPr>
              <a:t>-</a:t>
            </a:r>
            <a:r>
              <a:rPr dirty="0" u="sng" spc="-1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hlinkClick r:id="rId6"/>
              </a:rPr>
              <a:t>based</a:t>
            </a:r>
            <a:r>
              <a:rPr dirty="0" u="sng" spc="-1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hlinkClick r:id="rId6"/>
              </a:rPr>
              <a:t>-</a:t>
            </a:r>
            <a:r>
              <a:rPr dirty="0" u="sng" spc="-1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hlinkClick r:id="rId6"/>
              </a:rPr>
              <a:t>crm</a:t>
            </a:r>
            <a:r>
              <a:rPr dirty="0" u="sng" spc="-1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hlinkClick r:id="rId6"/>
              </a:rPr>
              <a:t>-</a:t>
            </a:r>
            <a:r>
              <a:rPr dirty="0" u="sng" spc="-1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hlinkClick r:id="rId6"/>
              </a:rPr>
              <a:t>software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68978" y="3384042"/>
            <a:ext cx="28289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/>
              <a:t>Thank</a:t>
            </a:r>
            <a:r>
              <a:rPr dirty="0" u="none" spc="-160"/>
              <a:t> </a:t>
            </a:r>
            <a:r>
              <a:rPr dirty="0" u="none" spc="-45"/>
              <a:t>You...!!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ECDE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 b</dc:creator>
  <dc:title>Slide 1</dc:title>
  <dcterms:created xsi:type="dcterms:W3CDTF">2026-04-16T15:50:04Z</dcterms:created>
  <dcterms:modified xsi:type="dcterms:W3CDTF">2026-04-16T15:50:04Z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2026-04-16T00:00:00Z</vt:filetime>
  </property>
  <property fmtid="{D5CDD505-2E9C-101B-9397-08002B2CF9AE}" pid="5" name="Producer">
    <vt:lpwstr>Microsoft® PowerPoint® for Microsoft 365</vt:lpwstr>
  </property>
</Properties>
</file>